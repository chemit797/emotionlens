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44000"/>
            <a:ext cx="10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Figure 2: 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468000"/>
            <a:ext cx="1080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  <a:latin typeface="Calibri"/>
              </a:defRPr>
            </a:pPr>
            <a:r>
              <a:t>Blue = data preparation  |  Orange = project contributions  |  Green = saved model 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6000" y="1080000"/>
            <a:ext cx="1800000" cy="792000"/>
          </a:xfrm>
          <a:prstGeom prst="roundRect">
            <a:avLst>
              <a:gd name="adj" fmla="val 15000"/>
            </a:avLst>
          </a:prstGeom>
          <a:solidFill>
            <a:srgbClr val="E3F0FD"/>
          </a:solidFill>
          <a:ln w="1905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A3A6B"/>
                </a:solidFill>
                <a:latin typeface="Consolas"/>
              </a:defRPr>
            </a:pPr>
            <a:r>
              <a:t>capture.py</a:t>
            </a:r>
          </a:p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webcam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24000" y="1080000"/>
            <a:ext cx="1800000" cy="792000"/>
          </a:xfrm>
          <a:prstGeom prst="roundRect">
            <a:avLst>
              <a:gd name="adj" fmla="val 15000"/>
            </a:avLst>
          </a:prstGeom>
          <a:solidFill>
            <a:srgbClr val="E3F0FD"/>
          </a:solidFill>
          <a:ln w="1905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A3A6B"/>
                </a:solidFill>
                <a:latin typeface="Consolas"/>
              </a:defRPr>
            </a:pPr>
            <a:r>
              <a:t>prelabel.py</a:t>
            </a:r>
          </a:p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weak labels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72000" y="1080000"/>
            <a:ext cx="1800000" cy="792000"/>
          </a:xfrm>
          <a:prstGeom prst="roundRect">
            <a:avLst>
              <a:gd name="adj" fmla="val 15000"/>
            </a:avLst>
          </a:prstGeom>
          <a:solidFill>
            <a:srgbClr val="E3F0FD"/>
          </a:solidFill>
          <a:ln w="1905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A3A6B"/>
                </a:solidFill>
                <a:latin typeface="Consolas"/>
              </a:defRPr>
            </a:pPr>
            <a:r>
              <a:t>review_app.py</a:t>
            </a:r>
          </a:p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manual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0" y="1080000"/>
            <a:ext cx="1800000" cy="792000"/>
          </a:xfrm>
          <a:prstGeom prst="roundRect">
            <a:avLst>
              <a:gd name="adj" fmla="val 15000"/>
            </a:avLst>
          </a:prstGeom>
          <a:solidFill>
            <a:srgbClr val="E3F0FD"/>
          </a:solidFill>
          <a:ln w="1905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A3A6B"/>
                </a:solidFill>
                <a:latin typeface="Consolas"/>
              </a:defRPr>
            </a:pPr>
            <a:r>
              <a:t>gather.py</a:t>
            </a:r>
          </a:p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merge users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6000" y="1476000.0"/>
            <a:ext cx="648000" cy="0.0"/>
          </a:xfrm>
          <a:prstGeom prst="line">
            <a:avLst/>
          </a:prstGeom>
          <a:ln w="228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24000" y="1476000.0"/>
            <a:ext cx="648000" cy="0.0"/>
          </a:xfrm>
          <a:prstGeom prst="line">
            <a:avLst/>
          </a:prstGeom>
          <a:ln w="228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272000" y="1476000.0"/>
            <a:ext cx="648000" cy="0.0"/>
          </a:xfrm>
          <a:prstGeom prst="line">
            <a:avLst/>
          </a:prstGeom>
          <a:ln w="228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76000" y="2520000"/>
            <a:ext cx="1800000" cy="792000"/>
          </a:xfrm>
          <a:prstGeom prst="roundRect">
            <a:avLst>
              <a:gd name="adj" fmla="val 15000"/>
            </a:avLst>
          </a:prstGeom>
          <a:solidFill>
            <a:srgbClr val="E3F0FD"/>
          </a:solidFill>
          <a:ln w="1905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A3A6B"/>
                </a:solidFill>
                <a:latin typeface="Consolas"/>
              </a:defRPr>
            </a:pPr>
            <a:r>
              <a:t>face_crop.py</a:t>
            </a:r>
          </a:p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MTCNN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24000" y="2520000"/>
            <a:ext cx="1800000" cy="792000"/>
          </a:xfrm>
          <a:prstGeom prst="roundRect">
            <a:avLst>
              <a:gd name="adj" fmla="val 15000"/>
            </a:avLst>
          </a:prstGeom>
          <a:solidFill>
            <a:srgbClr val="E3F0FD"/>
          </a:solidFill>
          <a:ln w="1905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A3A6B"/>
                </a:solidFill>
                <a:latin typeface="Consolas"/>
              </a:defRPr>
            </a:pPr>
            <a:r>
              <a:t>merge_ferplus.py</a:t>
            </a:r>
          </a:p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+ FER+, RAF-DB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72000" y="2520000"/>
            <a:ext cx="1800000" cy="792000"/>
          </a:xfrm>
          <a:prstGeom prst="roundRect">
            <a:avLst>
              <a:gd name="adj" fmla="val 15000"/>
            </a:avLst>
          </a:prstGeom>
          <a:solidFill>
            <a:srgbClr val="FFF3E3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7B3F00"/>
                </a:solidFill>
                <a:latin typeface="Consolas"/>
              </a:defRPr>
            </a:pPr>
            <a:r>
              <a:t>train.py</a:t>
            </a:r>
          </a:p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generic + sampler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0" y="2520000"/>
            <a:ext cx="1800000" cy="792000"/>
          </a:xfrm>
          <a:prstGeom prst="roundRect">
            <a:avLst>
              <a:gd name="adj" fmla="val 15000"/>
            </a:avLst>
          </a:prstGeom>
          <a:solidFill>
            <a:srgbClr val="FFF3E3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7B3F00"/>
                </a:solidFill>
                <a:latin typeface="Consolas"/>
              </a:defRPr>
            </a:pPr>
            <a:r>
              <a:t>finetune.py</a:t>
            </a:r>
          </a:p>
          <a:p>
            <a:pPr algn="ctr">
              <a:defRPr sz="850" i="1">
                <a:solidFill>
                  <a:srgbClr val="64748B"/>
                </a:solidFill>
                <a:latin typeface="Calibri"/>
              </a:defRPr>
            </a:pPr>
            <a:r>
              <a:t>personalization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76000" y="2916000.0"/>
            <a:ext cx="648000" cy="0.0"/>
          </a:xfrm>
          <a:prstGeom prst="line">
            <a:avLst/>
          </a:prstGeom>
          <a:ln w="228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24000" y="2916000.0"/>
            <a:ext cx="648000" cy="0.0"/>
          </a:xfrm>
          <a:prstGeom prst="line">
            <a:avLst/>
          </a:prstGeom>
          <a:ln w="228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72000" y="2916000.0"/>
            <a:ext cx="648000" cy="0.0"/>
          </a:xfrm>
          <a:prstGeom prst="line">
            <a:avLst/>
          </a:prstGeom>
          <a:ln w="228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820000.0" y="1872000"/>
            <a:ext cx="0.0" cy="324000.0"/>
          </a:xfrm>
          <a:prstGeom prst="line">
            <a:avLst/>
          </a:prstGeom>
          <a:ln w="228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476000.0" y="2196000.0"/>
            <a:ext cx="7344000.0" cy="0.0"/>
          </a:xfrm>
          <a:prstGeom prst="line">
            <a:avLst/>
          </a:prstGeom>
          <a:ln w="228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76000.0" y="2196000.0"/>
            <a:ext cx="0.0" cy="324000.0"/>
          </a:xfrm>
          <a:prstGeom prst="line">
            <a:avLst/>
          </a:prstGeom>
          <a:ln w="2286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724000" y="3888000"/>
            <a:ext cx="1296000" cy="540000"/>
          </a:xfrm>
          <a:prstGeom prst="roundRect">
            <a:avLst>
              <a:gd name="adj" fmla="val 20000"/>
            </a:avLst>
          </a:prstGeom>
          <a:solidFill>
            <a:srgbClr val="E6F9EE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2F"/>
                </a:solidFill>
                <a:latin typeface="Consolas"/>
              </a:defRPr>
            </a:pPr>
            <a:r>
              <a:t>best.pt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72000.0" y="3312000"/>
            <a:ext cx="0.0" cy="576000"/>
          </a:xfrm>
          <a:prstGeom prst="line">
            <a:avLst/>
          </a:prstGeom>
          <a:ln w="2286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72000" y="3888000"/>
            <a:ext cx="1296000" cy="540000"/>
          </a:xfrm>
          <a:prstGeom prst="roundRect">
            <a:avLst>
              <a:gd name="adj" fmla="val 20000"/>
            </a:avLst>
          </a:prstGeom>
          <a:solidFill>
            <a:srgbClr val="E6F9EE"/>
          </a:solidFill>
          <a:ln w="2286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4C2F"/>
                </a:solidFill>
                <a:latin typeface="Consolas"/>
              </a:defRPr>
            </a:pPr>
            <a:r>
              <a:t>personalized.pt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20000.0" y="3312000"/>
            <a:ext cx="0.0" cy="576000"/>
          </a:xfrm>
          <a:prstGeom prst="line">
            <a:avLst/>
          </a:prstGeom>
          <a:ln w="22860">
            <a:solidFill>
              <a:srgbClr val="94A3B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00000" y="5220000"/>
            <a:ext cx="792000" cy="288000"/>
          </a:xfrm>
          <a:prstGeom prst="roundRect">
            <a:avLst>
              <a:gd name="adj" fmla="val 15000"/>
            </a:avLst>
          </a:prstGeom>
          <a:solidFill>
            <a:srgbClr val="E3F0FD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28000" y="5551200"/>
            <a:ext cx="936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Data preparation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07999" y="5220000"/>
            <a:ext cx="792000" cy="288000"/>
          </a:xfrm>
          <a:prstGeom prst="roundRect">
            <a:avLst>
              <a:gd name="adj" fmla="val 15000"/>
            </a:avLst>
          </a:prstGeom>
          <a:solidFill>
            <a:srgbClr val="FFF3E3"/>
          </a:solidFill>
          <a:ln w="1524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5999" y="5551200"/>
            <a:ext cx="936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Project contribution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15998" y="5220000"/>
            <a:ext cx="792000" cy="288000"/>
          </a:xfrm>
          <a:prstGeom prst="roundRect">
            <a:avLst>
              <a:gd name="adj" fmla="val 15000"/>
            </a:avLst>
          </a:prstGeom>
          <a:solidFill>
            <a:srgbClr val="E6F9EE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3998" y="5551200"/>
            <a:ext cx="936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748B"/>
                </a:solidFill>
                <a:latin typeface="Calibri"/>
              </a:defRPr>
            </a:pPr>
            <a:r>
              <a:t>Saved model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