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C3C35-7123-00BB-6C29-2E83EAEE3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586161-694D-3126-0FC5-ADCA865C4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630DE-641C-373C-8F1F-C320C7F7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6C90A7-0DC7-59A8-BA9C-A74A7DB5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DF024-2BF0-87E5-C981-065DE829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74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3CA14-05AA-99D3-CE40-9F1C3095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3426E-5EB8-3406-6068-704003793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FE7893-3FE3-20D6-6FEC-AEAA908D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A04815-D85A-ABF9-5886-B137863E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2F0DA4-6BD3-D851-443E-089ECB33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13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7A211-D334-2DCE-FAC2-4FF3AFDD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2C098B-D981-A6E9-BD29-6D331A5D8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D3C60-3E84-85DB-5A65-83CC3F1B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37E74-C363-13AA-0F30-AD749DBB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ABA67-0F72-E0AF-6C6F-8741302D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61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EAEC9-4A61-633D-33F7-A34CE4E6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C45AE1-CAC5-8C35-DE78-6BCF7E44F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37ADF7-271E-3BAB-4FBC-5DC47CD4B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8C045B-D4A0-50B2-FC11-B66193D5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15E448-8F48-7719-243E-4755DA10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E614CC-4595-B0AE-B33E-B75C71D5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67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606A6-B811-F627-B3F5-650D9707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F401AF-82A0-54C2-794F-FE335575F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7F4627-7599-21AF-B36E-7A417786A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7713EC-A18D-F2C2-617A-058CCE375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FDE5D3-A661-8F07-BFDA-5FCA845C5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7077EB-DFF9-98B9-EE66-2893A68A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181436-1301-DEF3-2C0C-97209575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ADAC10-EC2A-3E77-F971-8E098DAE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1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44A48-0EE5-391A-A72F-9DC992F1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17B7F0-7E2E-EC55-1589-175862A0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D5ABED-F37C-C9C5-565A-A7456F05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A96CF7-5727-5561-4E70-8F9B9674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59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214BEB-D47A-1AA5-B2F8-D4BB162A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D47916-550C-8590-04EC-118462A8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B0C97-07DF-0192-9537-76B189A7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92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0D7B4-4800-E430-4A94-1483A3DE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7AD66-6BF8-4202-FCD5-BB625B5A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A39C74-57E0-7F5B-48B5-9E4DB757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0A2FD1-7A38-F8B9-57D5-8D26FCC8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CEB7DC-A9B9-C6B8-C74A-D6D001AE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E03C18-4C1E-919D-D4E9-872316A2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3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70B82-D92C-E172-2686-82AAB88B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F69692-58A6-A8C3-657F-E640354E2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D8BA57-AD05-95E3-C693-BEB0827C7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A82FF0-82A4-9A58-9954-2F62D746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771AD5-3E9D-4310-9C07-81B644F8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F00B93-CD06-AD3D-4DAD-EF723FF6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04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9211A-73E2-5299-F137-22EDFF87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E71D4D-254F-30F2-5935-9ABC746C1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45A07-4AB5-4E70-3EDB-C0468069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BF74D3-8AE2-2725-E841-B6075489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8E89B-1DFE-A63C-6381-11D0DC4B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32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66D614-9125-61E4-97D6-1F7510546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CF5C22-FE00-A0F5-49C2-DA5B1A27C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4BFC5-2C3F-FF2C-30E6-4F4E1A60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65F78-AB89-2F01-6724-E22AEA31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639DB-5694-5288-B695-1511C9A1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262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74A296-AE28-A155-742E-632A49F2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5AC2B9-398B-DFFF-DDAE-65F309992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4EEB3-EEE9-5545-9235-AEFB46FA2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8E142-71E8-6F8E-8E8E-40BB88319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441E4-C6CD-CEB7-9CF6-D3133A6DA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90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99D7-04BD-77A4-34E5-586EE93D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511E056-6B95-A629-2D3E-CDEBF61D722B}"/>
              </a:ext>
            </a:extLst>
          </p:cNvPr>
          <p:cNvSpPr/>
          <p:nvPr/>
        </p:nvSpPr>
        <p:spPr>
          <a:xfrm>
            <a:off x="5616141" y="56470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AE75D5-B453-AF77-0970-7BB899627EE4}"/>
              </a:ext>
            </a:extLst>
          </p:cNvPr>
          <p:cNvSpPr txBox="1"/>
          <p:nvPr/>
        </p:nvSpPr>
        <p:spPr>
          <a:xfrm>
            <a:off x="5705422" y="5689321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80AC84-AADF-5AC1-449F-45AA5334145A}"/>
              </a:ext>
            </a:extLst>
          </p:cNvPr>
          <p:cNvSpPr txBox="1"/>
          <p:nvPr/>
        </p:nvSpPr>
        <p:spPr>
          <a:xfrm>
            <a:off x="2637229" y="140313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18F17E-B9E8-289E-F29C-9FB7317D0640}"/>
              </a:ext>
            </a:extLst>
          </p:cNvPr>
          <p:cNvSpPr txBox="1"/>
          <p:nvPr/>
        </p:nvSpPr>
        <p:spPr>
          <a:xfrm>
            <a:off x="6460892" y="140853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86E585-9B26-4D1D-9468-CB7CDCC71526}"/>
              </a:ext>
            </a:extLst>
          </p:cNvPr>
          <p:cNvSpPr txBox="1"/>
          <p:nvPr/>
        </p:nvSpPr>
        <p:spPr>
          <a:xfrm>
            <a:off x="2577031" y="361843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052CC5-37C4-C665-27D2-A1927B7683B6}"/>
              </a:ext>
            </a:extLst>
          </p:cNvPr>
          <p:cNvSpPr txBox="1"/>
          <p:nvPr/>
        </p:nvSpPr>
        <p:spPr>
          <a:xfrm>
            <a:off x="6044893" y="363207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BCECDC-B5C7-A8C5-7FA9-7AA254963511}"/>
              </a:ext>
            </a:extLst>
          </p:cNvPr>
          <p:cNvSpPr/>
          <p:nvPr/>
        </p:nvSpPr>
        <p:spPr>
          <a:xfrm>
            <a:off x="2618179" y="22899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F5692145-657B-1DDF-7DBF-9D150B4509F3}"/>
              </a:ext>
            </a:extLst>
          </p:cNvPr>
          <p:cNvGrpSpPr/>
          <p:nvPr/>
        </p:nvGrpSpPr>
        <p:grpSpPr>
          <a:xfrm>
            <a:off x="3519842" y="4068235"/>
            <a:ext cx="637614" cy="1173029"/>
            <a:chOff x="3213989" y="1644854"/>
            <a:chExt cx="637614" cy="1326946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47F5D18-2BFE-30A4-C807-DC9B3A805B6E}"/>
                </a:ext>
              </a:extLst>
            </p:cNvPr>
            <p:cNvCxnSpPr>
              <a:stCxn id="16" idx="3"/>
            </p:cNvCxnSpPr>
            <p:nvPr/>
          </p:nvCxnSpPr>
          <p:spPr>
            <a:xfrm>
              <a:off x="3396181" y="249315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E348F0E0-432A-18EB-3565-9B988FCA0C6B}"/>
                </a:ext>
              </a:extLst>
            </p:cNvPr>
            <p:cNvCxnSpPr>
              <a:cxnSpLocks/>
            </p:cNvCxnSpPr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46A297B2-49D4-9329-8560-EB699BA93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4E7ED54-8E10-1805-114E-D8735F54A894}"/>
                </a:ext>
              </a:extLst>
            </p:cNvPr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894CE7C-B266-3E58-4D51-8A2B8A369441}"/>
              </a:ext>
            </a:extLst>
          </p:cNvPr>
          <p:cNvSpPr/>
          <p:nvPr/>
        </p:nvSpPr>
        <p:spPr>
          <a:xfrm>
            <a:off x="3893131" y="14638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8F31089-7DA1-6BB3-B87E-07A0D4E230EF}"/>
              </a:ext>
            </a:extLst>
          </p:cNvPr>
          <p:cNvSpPr/>
          <p:nvPr/>
        </p:nvSpPr>
        <p:spPr>
          <a:xfrm>
            <a:off x="3842195" y="22271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8D2D96C-E2CB-1241-A058-E97500BDAC62}"/>
              </a:ext>
            </a:extLst>
          </p:cNvPr>
          <p:cNvSpPr/>
          <p:nvPr/>
        </p:nvSpPr>
        <p:spPr>
          <a:xfrm>
            <a:off x="3876317" y="29225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486B294-8367-E830-34F3-7CE36F42CD47}"/>
              </a:ext>
            </a:extLst>
          </p:cNvPr>
          <p:cNvSpPr/>
          <p:nvPr/>
        </p:nvSpPr>
        <p:spPr>
          <a:xfrm>
            <a:off x="6653889" y="18393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9B35F5E-C6D4-3A64-F7F4-57ED33684858}"/>
              </a:ext>
            </a:extLst>
          </p:cNvPr>
          <p:cNvSpPr/>
          <p:nvPr/>
        </p:nvSpPr>
        <p:spPr>
          <a:xfrm>
            <a:off x="9557919" y="30062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53370D5-658B-AF50-06C6-9D5C13CEFDC0}"/>
              </a:ext>
            </a:extLst>
          </p:cNvPr>
          <p:cNvSpPr txBox="1"/>
          <p:nvPr/>
        </p:nvSpPr>
        <p:spPr>
          <a:xfrm>
            <a:off x="9555304" y="2636934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5ADECD6-E5B9-FB82-E453-78DA870FCB5C}"/>
              </a:ext>
            </a:extLst>
          </p:cNvPr>
          <p:cNvSpPr/>
          <p:nvPr/>
        </p:nvSpPr>
        <p:spPr>
          <a:xfrm>
            <a:off x="9555304" y="15999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78D2770-75E0-42EB-26B0-5B1E4BF44E27}"/>
              </a:ext>
            </a:extLst>
          </p:cNvPr>
          <p:cNvSpPr/>
          <p:nvPr/>
        </p:nvSpPr>
        <p:spPr>
          <a:xfrm>
            <a:off x="6577912" y="2685502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2ABCEBB-EF1E-6208-2342-B8E65CD89252}"/>
              </a:ext>
            </a:extLst>
          </p:cNvPr>
          <p:cNvSpPr/>
          <p:nvPr/>
        </p:nvSpPr>
        <p:spPr>
          <a:xfrm>
            <a:off x="8107503" y="22465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2EB5B20-B8BB-5B02-40A5-824AFA8EC631}"/>
              </a:ext>
            </a:extLst>
          </p:cNvPr>
          <p:cNvCxnSpPr>
            <a:cxnSpLocks/>
          </p:cNvCxnSpPr>
          <p:nvPr/>
        </p:nvCxnSpPr>
        <p:spPr>
          <a:xfrm>
            <a:off x="7948623" y="20857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FCB4CDB-1B9D-3179-E56C-A588DD8A8D71}"/>
              </a:ext>
            </a:extLst>
          </p:cNvPr>
          <p:cNvCxnSpPr>
            <a:cxnSpLocks/>
          </p:cNvCxnSpPr>
          <p:nvPr/>
        </p:nvCxnSpPr>
        <p:spPr>
          <a:xfrm>
            <a:off x="7948623" y="25281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9A55C5E-A1C4-1A01-E7F4-583EDE05CFE6}"/>
              </a:ext>
            </a:extLst>
          </p:cNvPr>
          <p:cNvCxnSpPr>
            <a:cxnSpLocks/>
          </p:cNvCxnSpPr>
          <p:nvPr/>
        </p:nvCxnSpPr>
        <p:spPr>
          <a:xfrm>
            <a:off x="9152583" y="25281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01467CB-AF05-37BA-CF31-09188A6D1E09}"/>
              </a:ext>
            </a:extLst>
          </p:cNvPr>
          <p:cNvCxnSpPr>
            <a:cxnSpLocks/>
          </p:cNvCxnSpPr>
          <p:nvPr/>
        </p:nvCxnSpPr>
        <p:spPr>
          <a:xfrm>
            <a:off x="9358958" y="18058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1BA0C0D-BCB8-237F-DE0B-898A36226CFB}"/>
              </a:ext>
            </a:extLst>
          </p:cNvPr>
          <p:cNvCxnSpPr>
            <a:cxnSpLocks/>
          </p:cNvCxnSpPr>
          <p:nvPr/>
        </p:nvCxnSpPr>
        <p:spPr>
          <a:xfrm flipH="1">
            <a:off x="7782253" y="20857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F5771DF-15CF-D91B-EB2D-D28735743A1C}"/>
              </a:ext>
            </a:extLst>
          </p:cNvPr>
          <p:cNvCxnSpPr>
            <a:cxnSpLocks/>
          </p:cNvCxnSpPr>
          <p:nvPr/>
        </p:nvCxnSpPr>
        <p:spPr>
          <a:xfrm flipH="1">
            <a:off x="7785428" y="29948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B7FFFF5-9A5A-EE8C-D899-FD9A129C71AC}"/>
              </a:ext>
            </a:extLst>
          </p:cNvPr>
          <p:cNvCxnSpPr>
            <a:cxnSpLocks/>
          </p:cNvCxnSpPr>
          <p:nvPr/>
        </p:nvCxnSpPr>
        <p:spPr>
          <a:xfrm>
            <a:off x="9353878" y="31783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CCD8BBE-20E6-D09B-1D97-1FF0056CDFAC}"/>
              </a:ext>
            </a:extLst>
          </p:cNvPr>
          <p:cNvCxnSpPr>
            <a:cxnSpLocks/>
          </p:cNvCxnSpPr>
          <p:nvPr/>
        </p:nvCxnSpPr>
        <p:spPr>
          <a:xfrm>
            <a:off x="9351338" y="18058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B7210D0-8F20-64CB-AA3C-35DCFD8DEFC9}"/>
              </a:ext>
            </a:extLst>
          </p:cNvPr>
          <p:cNvSpPr/>
          <p:nvPr/>
        </p:nvSpPr>
        <p:spPr>
          <a:xfrm>
            <a:off x="2618179" y="44277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9E06137-61BC-0EA3-50BF-CFAD96B7BE63}"/>
              </a:ext>
            </a:extLst>
          </p:cNvPr>
          <p:cNvSpPr/>
          <p:nvPr/>
        </p:nvSpPr>
        <p:spPr>
          <a:xfrm>
            <a:off x="3997997" y="38503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FAA8DE6-35C2-F3FB-0B00-3DE872EF2257}"/>
              </a:ext>
            </a:extLst>
          </p:cNvPr>
          <p:cNvSpPr/>
          <p:nvPr/>
        </p:nvSpPr>
        <p:spPr>
          <a:xfrm>
            <a:off x="3985789" y="4329435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44632D0-3568-B8FD-AFD8-535A14237AAC}"/>
              </a:ext>
            </a:extLst>
          </p:cNvPr>
          <p:cNvSpPr/>
          <p:nvPr/>
        </p:nvSpPr>
        <p:spPr>
          <a:xfrm>
            <a:off x="4030204" y="50162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55A64B45-CDA9-C80E-87BB-6C181685F3D3}"/>
              </a:ext>
            </a:extLst>
          </p:cNvPr>
          <p:cNvSpPr/>
          <p:nvPr/>
        </p:nvSpPr>
        <p:spPr>
          <a:xfrm>
            <a:off x="6178243" y="43738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3894135-80B5-968D-F02E-461ADB213903}"/>
              </a:ext>
            </a:extLst>
          </p:cNvPr>
          <p:cNvSpPr/>
          <p:nvPr/>
        </p:nvSpPr>
        <p:spPr>
          <a:xfrm>
            <a:off x="7786062" y="4271092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180A556-08F6-8EF4-4CC3-83D9BCC99B25}"/>
              </a:ext>
            </a:extLst>
          </p:cNvPr>
          <p:cNvSpPr/>
          <p:nvPr/>
        </p:nvSpPr>
        <p:spPr>
          <a:xfrm>
            <a:off x="9701564" y="4365573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0F8C501-0449-5D76-74B0-6B5EFBD1C399}"/>
              </a:ext>
            </a:extLst>
          </p:cNvPr>
          <p:cNvSpPr txBox="1"/>
          <p:nvPr/>
        </p:nvSpPr>
        <p:spPr>
          <a:xfrm>
            <a:off x="9074542" y="4122346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BC594FB-002D-4E3B-2016-39BEE6BC63B7}"/>
              </a:ext>
            </a:extLst>
          </p:cNvPr>
          <p:cNvSpPr txBox="1"/>
          <p:nvPr/>
        </p:nvSpPr>
        <p:spPr>
          <a:xfrm>
            <a:off x="7228440" y="4091038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52308FA-6AD6-0EEE-F246-1D2E699B0C30}"/>
              </a:ext>
            </a:extLst>
          </p:cNvPr>
          <p:cNvCxnSpPr>
            <a:cxnSpLocks/>
          </p:cNvCxnSpPr>
          <p:nvPr/>
        </p:nvCxnSpPr>
        <p:spPr>
          <a:xfrm flipH="1">
            <a:off x="7387918" y="46674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5933E0E-5C0F-B9EE-F6CD-84E88820E49B}"/>
              </a:ext>
            </a:extLst>
          </p:cNvPr>
          <p:cNvCxnSpPr>
            <a:cxnSpLocks/>
          </p:cNvCxnSpPr>
          <p:nvPr/>
        </p:nvCxnSpPr>
        <p:spPr>
          <a:xfrm flipV="1">
            <a:off x="9157919" y="46674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F2278D5A-62B5-7BFF-DEDC-E47D480CE6C0}"/>
              </a:ext>
            </a:extLst>
          </p:cNvPr>
          <p:cNvSpPr/>
          <p:nvPr/>
        </p:nvSpPr>
        <p:spPr>
          <a:xfrm>
            <a:off x="250755" y="551793"/>
            <a:ext cx="1037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23,F</a:t>
            </a:r>
          </a:p>
          <a:p>
            <a:r>
              <a:rPr lang="zh-CN" altLang="en-US" dirty="0"/>
              <a:t>2311258</a:t>
            </a:r>
          </a:p>
        </p:txBody>
      </p:sp>
    </p:spTree>
    <p:extLst>
      <p:ext uri="{BB962C8B-B14F-4D97-AF65-F5344CB8AC3E}">
        <p14:creationId xmlns:p14="http://schemas.microsoft.com/office/powerpoint/2010/main" val="48851722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"/>
            <a:ext cx="104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Figure 2: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32000"/>
            <a:ext cx="104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88888"/>
                </a:solidFill>
                <a:latin typeface="Times New Roman"/>
              </a:defRPr>
            </a:pPr>
            <a:r>
              <a:t>Blue = data preparation  |  Orange = project contributions  |  Green = saved model files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720000" y="594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1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40000" y="594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2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760000" y="594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3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280000" y="594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4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720000" y="2196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5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3240000" y="2196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6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760000" y="2196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7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280000" y="2196000"/>
            <a:ext cx="19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Times New Roman"/>
              </a:defRPr>
            </a:pPr>
            <a:r>
              <a:t>Step 8</a:t>
            </a:r>
          </a:p>
        </p:txBody>
      </p:sp>
    </p:spTree>
  </p:cSld>
  <p:clrMapOvr>
    <a:masterClrMapping/>
  </p:clrMapOvr>
  <p:sp>
    <p:nvSpPr>
      <p:cNvPr id="100" name="Row1_0"/>
      <p:cNvSpPr/>
      <p:nvPr/>
    </p:nvSpPr>
    <p:spPr>
      <a:xfrm>
        <a:off x="720000" y="900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capture.py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webcam</a:t>
        </a:r>
      </a:p>
    </p:txBody>
  </p:sp>
  <p:sp>
    <p:nvSpPr>
      <p:cNvPr id="101" name="Row1_1"/>
      <p:cNvSpPr/>
      <p:nvPr/>
    </p:nvSpPr>
    <p:spPr>
      <a:xfrm>
        <a:off x="3240000" y="900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prelabel.py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weak labels</a:t>
        </a:r>
      </a:p>
    </p:txBody>
  </p:sp>
  <p:sp>
    <p:nvSpPr>
      <p:cNvPr id="102" name="Row1_2"/>
      <p:cNvSpPr/>
      <p:nvPr/>
    </p:nvSpPr>
    <p:spPr>
      <a:xfrm>
        <a:off x="5760000" y="900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review_app.py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manual review</a:t>
        </a:r>
      </a:p>
    </p:txBody>
  </p:sp>
  <p:sp>
    <p:nvSpPr>
      <p:cNvPr id="103" name="Row1_3"/>
      <p:cNvSpPr/>
      <p:nvPr/>
    </p:nvSpPr>
    <p:spPr>
      <a:xfrm>
        <a:off x="8280000" y="900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gather.py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merge users</a:t>
        </a:r>
      </a:p>
    </p:txBody>
  </p:sp>
  <p:cxnSp>
    <p:nvCxnSpPr>
      <p:cNvPr id="0" name="Arrow"/>
      <p:cNvCxnSpPr/>
      <p:nvPr/>
    </p:nvCxnSpPr>
    <p:spPr>
      <a:xfrm>
        <a:off x="2700000" y="1296000"/>
        <a:ext cx="54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5220000" y="1296000"/>
        <a:ext cx="54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7740000" y="1296000"/>
        <a:ext cx="54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sp>
    <p:nvSpPr>
      <p:cNvPr id="200" name="Row2_0"/>
      <p:cNvSpPr/>
      <p:nvPr/>
    </p:nvSpPr>
    <p:spPr>
      <a:xfrm>
        <a:off x="720000" y="2448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face_crop.py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MTCNN</a:t>
        </a:r>
      </a:p>
    </p:txBody>
  </p:sp>
  <p:sp>
    <p:nvSpPr>
      <p:cNvPr id="201" name="Row2_1"/>
      <p:cNvSpPr/>
      <p:nvPr/>
    </p:nvSpPr>
    <p:spPr>
      <a:xfrm>
        <a:off x="3240000" y="2448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merge_ferplus.py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+ FER+, RAF-DB</a:t>
        </a:r>
      </a:p>
    </p:txBody>
  </p:sp>
  <p:sp>
    <p:nvSpPr>
      <p:cNvPr id="202" name="Row2_2"/>
      <p:cNvSpPr/>
      <p:nvPr/>
    </p:nvSpPr>
    <p:spPr>
      <a:xfrm>
        <a:off x="5760000" y="2448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F0D0A8"/>
          </a:gs>
          <a:gs pos="100000">
            <a:srgbClr val="F8E8D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train.py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generic + sampler</a:t>
        </a:r>
      </a:p>
    </p:txBody>
  </p:sp>
  <p:sp>
    <p:nvSpPr>
      <p:cNvPr id="203" name="Row2_3"/>
      <p:cNvSpPr/>
      <p:nvPr/>
    </p:nvSpPr>
    <p:spPr>
      <a:xfrm>
        <a:off x="8280000" y="2448000"/>
        <a:ext cx="1980000" cy="79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F0D0A8"/>
          </a:gs>
          <a:gs pos="100000">
            <a:srgbClr val="F8E8D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600" dirty="0">
            <a:solidFill>
              <a:srgbClr val="333333"/>
            </a:solidFill>
            <a:latin typeface="Times New Roman"/>
          </a:rPr>
          <a:t>finetune.py</a:t>
        </a:r>
      </a:p>
      <a:p>
        <a:pPr algn="ctr"/>
        <a:r>
          <a:rPr lang="en-US" sz="1000" dirty="0">
            <a:solidFill>
              <a:srgbClr val="333333"/>
            </a:solidFill>
            <a:latin typeface="Times New Roman"/>
          </a:rPr>
          <a:t>personalization</a:t>
        </a:r>
      </a:p>
    </p:txBody>
  </p:sp>
  <p:cxnSp>
    <p:nvCxnSpPr>
      <p:cNvPr id="0" name="Arrow"/>
      <p:cNvCxnSpPr/>
      <p:nvPr/>
    </p:nvCxnSpPr>
    <p:spPr>
      <a:xfrm>
        <a:off x="2700000" y="2844000"/>
        <a:ext cx="54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5220000" y="2844000"/>
        <a:ext cx="54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7740000" y="2844000"/>
        <a:ext cx="54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9270000" y="1692000"/>
        <a:ext cx="1" cy="378000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1710000" y="2070000"/>
        <a:ext cx="7560000" cy="1"/>
      </a:xfrm>
      <a:prstGeom prst="straightConnector1"/>
      <a:ln w="12700">
        <a:solidFill>
          <a:srgbClr val="888888"/>
        </a:solidFill>
        <a:tailEnd type="triangle" w="med" len="med"/>
      </a:ln>
    </p:spPr>
  </p:cxnSp>
  <p:cxnSp>
    <p:nvCxnSpPr>
      <p:cNvPr id="0" name="Arrow"/>
      <p:cNvCxnSpPr/>
      <p:nvPr/>
    </p:nvCxnSpPr>
    <p:spPr>
      <a:xfrm>
        <a:off x="1710000" y="2070000"/>
        <a:ext cx="1" cy="378000"/>
      </a:xfrm>
      <a:prstGeom prst="straightConnector1"/>
      <a:ln w="12700">
        <a:solidFill>
          <a:srgbClr val="888888"/>
        </a:solidFill>
        <a:tailEnd type="triangle" w="med" len="med"/>
      </a:ln>
    </p:spPr>
  </p:cxnSp>
  <p:sp>
    <p:nvSpPr>
      <p:cNvPr id="302" name="Output_2"/>
      <p:cNvSpPr/>
      <p:nvPr/>
    </p:nvSpPr>
    <p:spPr>
      <a:xfrm>
        <a:off x="6066000" y="3780000"/>
        <a:ext cx="1368000" cy="576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C0DCAE"/>
          </a:gs>
          <a:gs pos="100000">
            <a:srgbClr val="E5F0C9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400" dirty="0">
            <a:solidFill>
              <a:srgbClr val="333333"/>
            </a:solidFill>
            <a:latin typeface="Times New Roman"/>
          </a:rPr>
          <a:t>best.pt</a:t>
        </a:r>
      </a:p>
    </p:txBody>
  </p:sp>
  <p:cxnSp>
    <p:nvCxnSpPr>
      <p:cNvPr id="0" name="Arrow"/>
      <p:cNvCxnSpPr/>
      <p:nvPr/>
    </p:nvCxnSpPr>
    <p:spPr>
      <a:xfrm>
        <a:off x="6750000" y="3240000"/>
        <a:ext cx="1" cy="540000"/>
      </a:xfrm>
      <a:prstGeom prst="straightConnector1"/>
      <a:ln w="12700">
        <a:solidFill>
          <a:srgbClr val="888888"/>
        </a:solidFill>
        <a:tailEnd type="triangle" w="med" len="med"/>
        <a:prstDash val="dash"/>
      </a:ln>
    </p:spPr>
  </p:cxnSp>
  <p:sp>
    <p:nvSpPr>
      <p:cNvPr id="303" name="Output_3"/>
      <p:cNvSpPr/>
      <p:nvPr/>
    </p:nvSpPr>
    <p:spPr>
      <a:xfrm>
        <a:off x="8586000" y="3780000"/>
        <a:ext cx="1368000" cy="576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C0DCAE"/>
          </a:gs>
          <a:gs pos="100000">
            <a:srgbClr val="E5F0C9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400" dirty="0">
            <a:solidFill>
              <a:srgbClr val="333333"/>
            </a:solidFill>
            <a:latin typeface="Times New Roman"/>
          </a:rPr>
          <a:t>personalized.pt</a:t>
        </a:r>
      </a:p>
    </p:txBody>
  </p:sp>
  <p:cxnSp>
    <p:nvCxnSpPr>
      <p:cNvPr id="0" name="Arrow"/>
      <p:cNvCxnSpPr/>
      <p:nvPr/>
    </p:nvCxnSpPr>
    <p:spPr>
      <a:xfrm>
        <a:off x="9270000" y="3240000"/>
        <a:ext cx="1" cy="540000"/>
      </a:xfrm>
      <a:prstGeom prst="straightConnector1"/>
      <a:ln w="12700">
        <a:solidFill>
          <a:srgbClr val="888888"/>
        </a:solidFill>
        <a:tailEnd type="triangle" w="med" len="med"/>
        <a:prstDash val="dash"/>
      </a:ln>
    </p:spPr>
  </p:cxnSp>
  <p:sp>
    <p:nvSpPr>
      <p:cNvPr id="400" name="Box"/>
      <p:cNvSpPr/>
      <p:nvPr/>
    </p:nvSpPr>
    <p:spPr>
      <a:xfrm>
        <a:off x="2520000" y="4680000"/>
        <a:ext cx="1440000" cy="43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A8C8E8"/>
          </a:gs>
          <a:gs pos="100000">
            <a:srgbClr val="D8E8F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200" dirty="0">
            <a:solidFill>
              <a:srgbClr val="333333"/>
            </a:solidFill>
            <a:latin typeface="Times New Roman"/>
          </a:rPr>
          <a:t>Data preparation stage</a:t>
        </a:r>
      </a:p>
    </p:txBody>
  </p:sp>
  <p:sp>
    <p:nvSpPr>
      <p:cNvPr id="401" name="Box"/>
      <p:cNvSpPr/>
      <p:nvPr/>
    </p:nvSpPr>
    <p:spPr>
      <a:xfrm>
        <a:off x="4680000" y="4680000"/>
        <a:ext cx="1440000" cy="43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F0D0A8"/>
          </a:gs>
          <a:gs pos="100000">
            <a:srgbClr val="F8E8D8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200" dirty="0">
            <a:solidFill>
              <a:srgbClr val="333333"/>
            </a:solidFill>
            <a:latin typeface="Times New Roman"/>
          </a:rPr>
          <a:t>Project contribution stage</a:t>
        </a:r>
      </a:p>
    </p:txBody>
  </p:sp>
  <p:sp>
    <p:nvSpPr>
      <p:cNvPr id="402" name="Box"/>
      <p:cNvSpPr/>
      <p:nvPr/>
    </p:nvSpPr>
    <p:spPr>
      <a:xfrm>
        <a:off x="6840000" y="4680000"/>
        <a:ext cx="1440000" cy="432000"/>
      </a:xfrm>
      <a:prstGeom prst="roundRect">
        <a:avLst>
          <a:gd name="adj" fmla="val 16667"/>
        </a:avLst>
      </a:prstGeom>
      <a:gradFill flip="none" rotWithShape="1">
        <a:gsLst>
          <a:gs pos="0">
            <a:srgbClr val="C0DCAE"/>
          </a:gs>
          <a:gs pos="100000">
            <a:srgbClr val="E5F0C9"/>
          </a:gs>
        </a:gsLst>
        <a:lin ang="2700000" scaled="1"/>
        <a:tileRect/>
      </a:gradFill>
      <a:ln w="12700">
        <a:solidFill>
          <a:srgbClr val="C0C0C0"/>
        </a:solidFill>
      </a:ln>
    </p:spPr>
    <p:txBody>
      <a:bodyPr rot="0" vert="horz" wrap="square" lIns="91440" tIns="45720" rIns="91440" bIns="45720"/>
      <a:lstStyle/>
      <a:p>
        <a:pPr algn="ctr"/>
        <a:r>
          <a:rPr lang="en-US" sz="1200" dirty="0">
            <a:solidFill>
              <a:srgbClr val="333333"/>
            </a:solidFill>
            <a:latin typeface="Times New Roman"/>
          </a:rPr>
          <a:t>Saved model file</a:t>
        </a:r>
      </a:p>
    </p:txBody>
  </p:sp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YUMING</dc:creator>
  <cp:lastModifiedBy>CHEN YUMING</cp:lastModifiedBy>
  <cp:revision>1</cp:revision>
  <dcterms:created xsi:type="dcterms:W3CDTF">2026-06-28T19:15:09Z</dcterms:created>
  <dcterms:modified xsi:type="dcterms:W3CDTF">2026-06-28T19:22:40Z</dcterms:modified>
</cp:coreProperties>
</file>